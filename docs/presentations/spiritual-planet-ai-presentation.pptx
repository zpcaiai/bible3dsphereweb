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开场：属灵星球不是把属灵生命变成数据评分，而是把觉察、经文、行动与真实关系连接起来。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结尾：强调“可信”优先于“更多 AI 功能”。邀请听众围绕有限发布前的审核、证据和责任分工继续讨论。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64008" cy="64008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731520"/>
            <a:ext cx="73152" cy="73152"/>
          </a:xfrm>
          <a:prstGeom prst="ellipse">
            <a:avLst/>
          </a:prstGeom>
          <a:solidFill>
            <a:srgbClr val="23C4D9"/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52120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5943600"/>
            <a:ext cx="54864" cy="54864"/>
          </a:xfrm>
          <a:prstGeom prst="ellipse">
            <a:avLst/>
          </a:prstGeom>
          <a:solidFill>
            <a:srgbClr val="8865E8"/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612648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4032" y="667512"/>
            <a:ext cx="4389120" cy="4389120"/>
          </a:xfrm>
          <a:prstGeom prst="ellipse">
            <a:avLst/>
          </a:prstGeom>
          <a:solidFill>
            <a:srgbClr val="8865E8">
              <a:alpha val="22000"/>
            </a:srgbClr>
          </a:solidFill>
          <a:ln w="13970">
            <a:solidFill>
              <a:srgbClr val="23C4D9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53528" y="1207008"/>
            <a:ext cx="3310128" cy="3310128"/>
          </a:xfrm>
          <a:prstGeom prst="ellipse">
            <a:avLst/>
          </a:prstGeom>
          <a:solidFill>
            <a:srgbClr val="2864DC">
              <a:alpha val="68000"/>
            </a:srgbClr>
          </a:solidFill>
          <a:ln w="10160">
            <a:solidFill>
              <a:srgbClr val="F3C969">
                <a:alpha val="20000"/>
              </a:srgbClr>
            </a:solidFill>
            <a:prstDash val="solid"/>
          </a:ln>
        </p:spPr>
      </p:sp>
      <p:pic>
        <p:nvPicPr>
          <p:cNvPr id="10" name="Image 0" descr="/Users/stephen/Documents/Projects/DoctorPro/bible3dsphereWeb/public/og-image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rcRect l="0" r="0" t="0" b="0"/>
          <a:stretch/>
        </p:blipFill>
        <p:spPr>
          <a:xfrm>
            <a:off x="6556248" y="365760"/>
            <a:ext cx="5166360" cy="4041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C4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SPIRITUAL PLANET · PRESENTATION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48132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属灵星球</a:t>
            </a:r>
            <a:endParaRPr lang="en-US" sz="3900" dirty="0"/>
          </a:p>
        </p:txBody>
      </p:sp>
      <p:sp>
        <p:nvSpPr>
          <p:cNvPr id="13" name="Text 10"/>
          <p:cNvSpPr/>
          <p:nvPr/>
        </p:nvSpPr>
        <p:spPr>
          <a:xfrm>
            <a:off x="658368" y="22585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9E7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网站呈现内容与 AI 技术应用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67512" y="29992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A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以技术降低学习、反思与连接的门槛；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8CA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以圣经、关系、教会与人的责任守住中心。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6656" y="3995928"/>
            <a:ext cx="3383280" cy="274320"/>
          </a:xfrm>
          <a:prstGeom prst="roundRect">
            <a:avLst>
              <a:gd name="adj" fmla="val 40000"/>
            </a:avLst>
          </a:prstGeom>
          <a:solidFill>
            <a:srgbClr val="F3C969">
              <a:alpha val="14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402793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PWA · 3D · MAP · VOICE · AI GOVERNANCE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67512" y="6062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EAB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项目介绍 / 技术汇报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从分散工具到连续成长路径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平台以“成长地图”组织内容，而非把灵修、地图、课程、记录割裂成孤立功能。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40156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57400"/>
            <a:ext cx="393192" cy="393192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9397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看见当下状态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898648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以情绪觉察、灵修记录与个人轨迹，帮助用户命名真实处境，而不是急于给出结论。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40156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057400"/>
            <a:ext cx="393192" cy="393192"/>
          </a:xfrm>
          <a:prstGeom prst="ellipse">
            <a:avLst/>
          </a:prstGeom>
          <a:solidFill>
            <a:srgbClr val="F3C969">
              <a:alpha val="16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09397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57860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回到真理与行动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2898648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把经文、祷告、反思问题、可执行操练与周期复盘连接为一条可暂停、可调整的路径。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1828800"/>
            <a:ext cx="340156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057400"/>
            <a:ext cx="393192" cy="393192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09397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257860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回到真实共同体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5904" y="2898648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技术只做辅助；教会、牧养、家庭、同伴与专业支持仍是高风险和长期成长的责任主体。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核心闭环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5431536"/>
            <a:ext cx="118872" cy="118872"/>
          </a:xfrm>
          <a:prstGeom prst="ellipse">
            <a:avLst/>
          </a:prstGeom>
          <a:solidFill>
            <a:srgbClr val="8865E8"/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3472" y="5486400"/>
            <a:ext cx="429768" cy="0"/>
          </a:xfrm>
          <a:prstGeom prst="line">
            <a:avLst/>
          </a:prstGeom>
          <a:noFill/>
          <a:ln w="17780">
            <a:solidFill>
              <a:srgbClr val="DDE7F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18688" y="5431536"/>
            <a:ext cx="118872" cy="118872"/>
          </a:xfrm>
          <a:prstGeom prst="ellipse">
            <a:avLst/>
          </a:prstGeom>
          <a:solidFill>
            <a:srgbClr val="2864DC"/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5486400"/>
            <a:ext cx="429768" cy="0"/>
          </a:xfrm>
          <a:prstGeom prst="line">
            <a:avLst/>
          </a:prstGeom>
          <a:noFill/>
          <a:ln w="17780">
            <a:solidFill>
              <a:srgbClr val="DDE7F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91456" y="5431536"/>
            <a:ext cx="118872" cy="118872"/>
          </a:xfrm>
          <a:prstGeom prst="ellipse">
            <a:avLst/>
          </a:prstGeom>
          <a:solidFill>
            <a:srgbClr val="23C4D9"/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79008" y="5486400"/>
            <a:ext cx="429768" cy="0"/>
          </a:xfrm>
          <a:prstGeom prst="line">
            <a:avLst/>
          </a:prstGeom>
          <a:noFill/>
          <a:ln w="17780">
            <a:solidFill>
              <a:srgbClr val="DDE7F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64224" y="5431536"/>
            <a:ext cx="118872" cy="118872"/>
          </a:xfrm>
          <a:prstGeom prst="ellipse">
            <a:avLst/>
          </a:prstGeom>
          <a:solidFill>
            <a:srgbClr val="4CCFA6"/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51776" y="5486400"/>
            <a:ext cx="429768" cy="0"/>
          </a:xfrm>
          <a:prstGeom prst="line">
            <a:avLst/>
          </a:prstGeom>
          <a:noFill/>
          <a:ln w="17780">
            <a:solidFill>
              <a:srgbClr val="DDE7F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36992" y="5431536"/>
            <a:ext cx="118872" cy="118872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24544" y="5486400"/>
            <a:ext cx="429768" cy="0"/>
          </a:xfrm>
          <a:prstGeom prst="line">
            <a:avLst/>
          </a:prstGeom>
          <a:noFill/>
          <a:ln w="17780">
            <a:solidFill>
              <a:srgbClr val="DDE7F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9760" y="5431536"/>
            <a:ext cx="118872" cy="118872"/>
          </a:xfrm>
          <a:prstGeom prst="ellipse">
            <a:avLst/>
          </a:prstGeom>
          <a:solidFill>
            <a:srgbClr val="8865E8"/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74352" y="5349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网站内容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一个门户，六类持续可探索的内容体验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面向个人、家庭、教会与教师的模块被组织为可回访、可组合的“内容星系”。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011680"/>
            <a:ext cx="393192" cy="393192"/>
          </a:xfrm>
          <a:prstGeom prst="ellipse">
            <a:avLst/>
          </a:prstGeom>
          <a:solidFill>
            <a:srgbClr val="F3C969">
              <a:alpha val="16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482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每日灵修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2852928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读经、晨间甘露、背经、默想、日志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011680"/>
            <a:ext cx="393192" cy="393192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482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25328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心灵觉察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90872" y="2852928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情绪星球、福音回应、反思与祷告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84464" y="1783080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11680"/>
            <a:ext cx="393192" cy="393192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0482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5328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属灵操练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2852928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祷告、安息、习惯、禁食、生活规则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995928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4224528"/>
            <a:ext cx="393192" cy="393192"/>
          </a:xfrm>
          <a:prstGeom prst="ellipse">
            <a:avLst/>
          </a:prstGeom>
          <a:solidFill>
            <a:srgbClr val="23C4D9">
              <a:alpha val="16000"/>
            </a:srgbClr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26110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◫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" y="474573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圣经可视化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" y="5065776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地图、时间线、人物旅程、3D 圣殿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71416" y="3995928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4224528"/>
            <a:ext cx="393192" cy="393192"/>
          </a:xfrm>
          <a:prstGeom prst="ellipse">
            <a:avLst/>
          </a:prstGeom>
          <a:solidFill>
            <a:srgbClr val="2864DC">
              <a:alpha val="16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26110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90872" y="474573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群体与教会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90872" y="5065776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代祷、门训、问责、教会连接、福音行动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3995928"/>
            <a:ext cx="3419856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224528"/>
            <a:ext cx="393192" cy="393192"/>
          </a:xfrm>
          <a:prstGeom prst="ellipse">
            <a:avLst/>
          </a:prstGeom>
          <a:solidFill>
            <a:srgbClr val="DD6A6A">
              <a:alpha val="16000"/>
            </a:srgbClr>
          </a:solidFill>
          <a:ln w="12700">
            <a:solidFill>
              <a:srgbClr val="DD6A6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26110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✧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474573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成长与关怀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5065776"/>
            <a:ext cx="29809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决策分辨、苦难医治、牧养授权、成长回顾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呈现方式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把抽象成长过程变成可探索的视觉叙事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3D、地图、时间线和轻量交互服务于理解与反思，不制造炫技式复杂度。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6629400" cy="4160520"/>
          </a:xfrm>
          <a:prstGeom prst="roundRect">
            <a:avLst>
              <a:gd name="adj" fmla="val 2637"/>
            </a:avLst>
          </a:prstGeom>
          <a:solidFill>
            <a:srgbClr val="0B1A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pic>
        <p:nvPicPr>
          <p:cNvPr id="6" name="Image 0" descr="/Users/stephen/Documents/Projects/DoctorPro/bible3dsphereWeb/public/og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" y="1920240"/>
            <a:ext cx="6300216" cy="3822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62672" y="1892808"/>
            <a:ext cx="118872" cy="118872"/>
          </a:xfrm>
          <a:prstGeom prst="ellipse">
            <a:avLst/>
          </a:prstGeom>
          <a:solidFill>
            <a:srgbClr val="8865E8"/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82128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情绪星球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82128" y="209397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以可视化关系呈现情绪、经文与引导入口。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62672" y="2944368"/>
            <a:ext cx="118872" cy="118872"/>
          </a:xfrm>
          <a:prstGeom prst="ellipse">
            <a:avLst/>
          </a:prstGeom>
          <a:solidFill>
            <a:srgbClr val="23C4D9"/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82128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圣经时空地图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82128" y="314553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通过地点、路线和时间轴降低圣经背景理解门槛。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62672" y="3995928"/>
            <a:ext cx="118872" cy="118872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2128" y="3886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渐进式导航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82128" y="419709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按“认识自己—回到福音—与神同行”等路径组织现有功能。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62672" y="5047488"/>
            <a:ext cx="118872" cy="118872"/>
          </a:xfrm>
          <a:prstGeom prst="ellipse">
            <a:avLst/>
          </a:prstGeom>
          <a:solidFill>
            <a:srgbClr val="4CCFA6"/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82128" y="4937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多端可达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82128" y="524865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PWA、响应式布局、语言切换、语音与减弱动态支持。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AI 应用目标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是受边界约束的助手，不是属灵权威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技术承担整理、提示与提议；高风险判断、牧养责任和最终决定始终归属人。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920240"/>
            <a:ext cx="2532888" cy="2944368"/>
          </a:xfrm>
          <a:prstGeom prst="roundRect">
            <a:avLst>
              <a:gd name="adj" fmla="val 4332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14884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864DC">
              <a:alpha val="14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808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语音 / 翻译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2679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输入理解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154680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文字与语音输入；转写、翻译、主题提取与结构化整理。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7872" y="1920240"/>
            <a:ext cx="2532888" cy="2944368"/>
          </a:xfrm>
          <a:prstGeom prst="roundRect">
            <a:avLst>
              <a:gd name="adj" fmla="val 4332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58184" y="214884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8865E8">
              <a:alpha val="14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1808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 / 建议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58184" y="2679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内容辅助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58184" y="3154680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经文相关线索、反思问题、课程草案、教师备课与情境提示。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1920240"/>
            <a:ext cx="2532888" cy="2944368"/>
          </a:xfrm>
          <a:prstGeom prst="roundRect">
            <a:avLst>
              <a:gd name="adj" fmla="val 4332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14884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4CCFA6">
              <a:alpha val="14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21808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最小必要信息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38544" y="2679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路径支持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8544" y="3154680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按角色、年龄带、目标及授权状态推荐合适课程与操练路径。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08592" y="1920240"/>
            <a:ext cx="2532888" cy="2944368"/>
          </a:xfrm>
          <a:prstGeom prst="roundRect">
            <a:avLst>
              <a:gd name="adj" fmla="val 4332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18904" y="214884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F3C969">
              <a:alpha val="14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8904" y="21808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可编辑 / 可撤销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18904" y="2679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复盘支持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18904" y="3154680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把用户确认过的记录组织为周期回顾与下一步建议。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88720" y="5367528"/>
            <a:ext cx="9811512" cy="566928"/>
          </a:xfrm>
          <a:prstGeom prst="roundRect">
            <a:avLst>
              <a:gd name="adj" fmla="val 19355"/>
            </a:avLst>
          </a:prstGeom>
          <a:solidFill>
            <a:srgbClr val="EFF7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44752" y="5550408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的正确位置：提供可审查的下一步，而不是代替良心、圣经、牧者、家长或真实共同体。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技术架构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从多模态输入到安全呈现的应用层协作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前端承担体验与可视化；后端 API 提供转写、查询、翻译和受保护业务能力。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2148840"/>
            <a:ext cx="2404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423160"/>
            <a:ext cx="548640" cy="548640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30998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4564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 · 语音 · 选择 · 记录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3154680"/>
            <a:ext cx="320040" cy="0"/>
          </a:xfrm>
          <a:prstGeom prst="line">
            <a:avLst/>
          </a:prstGeom>
          <a:noFill/>
          <a:ln w="19050">
            <a:solidFill>
              <a:srgbClr val="2864DC">
                <a:alpha val="68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2148840"/>
            <a:ext cx="2404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2423160"/>
            <a:ext cx="548640" cy="548640"/>
          </a:xfrm>
          <a:prstGeom prst="ellipse">
            <a:avLst/>
          </a:prstGeom>
          <a:solidFill>
            <a:srgbClr val="2864DC">
              <a:alpha val="16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30752" y="30998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/ PWA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76472" y="34564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Vite + React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状态、路由、离线体验、i18n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07608" y="3154680"/>
            <a:ext cx="320040" cy="0"/>
          </a:xfrm>
          <a:prstGeom prst="line">
            <a:avLst/>
          </a:prstGeom>
          <a:noFill/>
          <a:ln w="19050">
            <a:solidFill>
              <a:srgbClr val="2864DC">
                <a:alpha val="68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19088" y="2148840"/>
            <a:ext cx="2404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51776" y="2423160"/>
            <a:ext cx="548640" cy="548640"/>
          </a:xfrm>
          <a:prstGeom prst="ellipse">
            <a:avLst/>
          </a:prstGeom>
          <a:solidFill>
            <a:srgbClr val="23C4D9">
              <a:alpha val="16000"/>
            </a:srgbClr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C4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0998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服务接口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34564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转写 · 查询 · 翻译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形成与关怀业务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06256" y="3154680"/>
            <a:ext cx="320040" cy="0"/>
          </a:xfrm>
          <a:prstGeom prst="line">
            <a:avLst/>
          </a:prstGeom>
          <a:noFill/>
          <a:ln w="19050">
            <a:solidFill>
              <a:srgbClr val="2864DC">
                <a:alpha val="68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17736" y="2148840"/>
            <a:ext cx="2404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50424" y="2423160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0424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28048" y="30998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受控呈现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73768" y="34564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· 地图 · 课程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人工审核台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112" y="4919472"/>
            <a:ext cx="10387584" cy="768096"/>
          </a:xfrm>
          <a:prstGeom prst="roundRect">
            <a:avLst>
              <a:gd name="adj" fmla="val 14286"/>
            </a:avLst>
          </a:prstGeom>
          <a:solidFill>
            <a:srgbClr val="EC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61288" y="516636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基础设施要点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7168" y="508406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Vercel 负责前端构建与分发；后端通过 API 提供业务服务。语音服务密钥保持在服务端，不暴露为浏览器环境变量。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AI 时代门训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一个模块、四条轨道、十二个依赖有序的 Batch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面向成人、家庭、儿童青少年及教师/牧养支持；课程内容必须经相应审核才可向学习者开放。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6336792" cy="4462272"/>
          </a:xfrm>
          <a:prstGeom prst="roundRect">
            <a:avLst>
              <a:gd name="adj" fmla="val 2459"/>
            </a:avLst>
          </a:prstGeom>
          <a:solidFill>
            <a:srgbClr val="101B3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pic>
        <p:nvPicPr>
          <p:cNvPr id="6" name="Image 0" descr="/Users/stephen/Documents/Projects/DoctorPro/bible3dsphereWeb/docs/ai-formation-certification/chrome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" y="1911096"/>
            <a:ext cx="6007608" cy="3374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0336" y="1773936"/>
            <a:ext cx="841248" cy="274320"/>
          </a:xfrm>
          <a:prstGeom prst="roundRect">
            <a:avLst>
              <a:gd name="adj" fmla="val 40000"/>
            </a:avLst>
          </a:prstGeom>
          <a:solidFill>
            <a:srgbClr val="8865E8">
              <a:alpha val="14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0336" y="18059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B01–B04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302752" y="1764792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成人自我治理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02752" y="20574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注意力、身体节律、AI 分辨与恢复支持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260336" y="2862072"/>
            <a:ext cx="841248" cy="274320"/>
          </a:xfrm>
          <a:prstGeom prst="roundRect">
            <a:avLst>
              <a:gd name="adj" fmla="val 40000"/>
            </a:avLst>
          </a:prstGeom>
          <a:solidFill>
            <a:srgbClr val="F3C969">
              <a:alpha val="14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0336" y="289407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B05–B06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302752" y="2852928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父母与家庭门训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02752" y="31455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父母榜样、修复、家庭注意力与 AI 公约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7260336" y="3950208"/>
            <a:ext cx="841248" cy="274320"/>
          </a:xfrm>
          <a:prstGeom prst="roundRect">
            <a:avLst>
              <a:gd name="adj" fmla="val 40000"/>
            </a:avLst>
          </a:prstGeom>
          <a:solidFill>
            <a:srgbClr val="4CCFA6">
              <a:alpha val="14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0336" y="39822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B07–B08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02752" y="394106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儿童青少年形成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02752" y="42336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年龄适切、成人脚手架、诚实提问与自治交还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260336" y="5038344"/>
            <a:ext cx="841248" cy="274320"/>
          </a:xfrm>
          <a:prstGeom prst="roundRect">
            <a:avLst>
              <a:gd name="adj" fmla="val 40000"/>
            </a:avLst>
          </a:prstGeom>
          <a:solidFill>
            <a:srgbClr val="2864DC">
              <a:alpha val="14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0336" y="50703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B09–B12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302752" y="5029200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教师与牧养支持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02752" y="53218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审核课程、情境、成长回顾与发布证据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7278624" y="5504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6A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当前产品状态：release candidate；内容审核与发布认证仍需由授权人完成。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伦理与安全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以“不能做什么”定义 AI 的可信边界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项目将神学、牧养、儿童保护、隐私、无障碍和回滚作为可验证的发布门槛。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29968"/>
            <a:ext cx="548640" cy="548640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48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18488" y="197510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不替代权威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18488" y="228600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不是启示、良心、牧者、诊断者或最终发布人。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19856"/>
            <a:ext cx="548640" cy="548640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38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18488" y="336499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不制造评分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18488" y="367588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不生成救恩、圣洁、成熟、纯洁、父母适格或隐藏罪评分。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0080" y="4535424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809744"/>
            <a:ext cx="548640" cy="548640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18488" y="475488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不进行秘密监控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18488" y="506577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不读取完整浏览史、私聊、认罪或儿童秘密。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272784" y="1755648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2029968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2148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51192" y="197510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S0–S3 安全中断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51192" y="228600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高风险处境停止普通流程，优先进入真人支持与保护路径。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272784" y="3145536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28816" y="3419856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3538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1192" y="336499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最小必要数据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51192" y="367588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课程推荐仅使用角色、年龄带、目标与同意状态等必要信息。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272784" y="4535424"/>
            <a:ext cx="52486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28816" y="4809744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51192" y="475488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审核先于发布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51192" y="506577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未审核的神学、性教育、儿童与青少年内容不得对学习者开放。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人机协作治理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内容生成、审核、发布与回滚均保留明确责任人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系统可以提供草案、证据和提醒，但任何高影响决策都必须由授权人签署。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463040" y="1975104"/>
            <a:ext cx="548640" cy="548640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093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/ 规则辅助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729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形成草案、风险提示、版本化情境、证据归集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907792" y="2231136"/>
            <a:ext cx="438912" cy="0"/>
          </a:xfrm>
          <a:prstGeom prst="line">
            <a:avLst/>
          </a:prstGeom>
          <a:noFill/>
          <a:ln w="19050">
            <a:solidFill>
              <a:srgbClr val="DDE7F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5968" y="1975104"/>
            <a:ext cx="548640" cy="548640"/>
          </a:xfrm>
          <a:prstGeom prst="ellipse">
            <a:avLst/>
          </a:prstGeom>
          <a:solidFill>
            <a:srgbClr val="2864DC">
              <a:alpha val="16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2093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8728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专业审核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31729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神学、牧养、儿童保护、隐私与内容质量审查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760720" y="2231136"/>
            <a:ext cx="438912" cy="0"/>
          </a:xfrm>
          <a:prstGeom prst="line">
            <a:avLst/>
          </a:prstGeom>
          <a:noFill/>
          <a:ln w="19050">
            <a:solidFill>
              <a:srgbClr val="DDE7F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68896" y="1975104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2093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授权发布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3096" y="31729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功能开关、受众范围、人工发布决定、可追溯记录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613648" y="2231136"/>
            <a:ext cx="438912" cy="0"/>
          </a:xfrm>
          <a:prstGeom prst="line">
            <a:avLst/>
          </a:prstGeom>
          <a:noFill/>
          <a:ln w="19050">
            <a:solidFill>
              <a:srgbClr val="DDE7F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21824" y="1975104"/>
            <a:ext cx="548640" cy="548640"/>
          </a:xfrm>
          <a:prstGeom prst="ellipse">
            <a:avLst/>
          </a:prstGeom>
          <a:solidFill>
            <a:srgbClr val="F3C969">
              <a:alpha val="16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21824" y="2093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4584" y="27797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持续验证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36024" y="31729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无障碍、红队、事故演练、回滚与再认证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41832" y="4690872"/>
            <a:ext cx="10259568" cy="822960"/>
          </a:xfrm>
          <a:prstGeom prst="roundRect">
            <a:avLst>
              <a:gd name="adj" fmla="val 13333"/>
            </a:avLst>
          </a:prstGeom>
          <a:solidFill>
            <a:srgbClr val="FFF8E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34440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60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发布原则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95728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E55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缺失任何关键门槛证据时，状态保持 NOT_CERTIFIED；自动化不能越过人工发布责任。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当前实现与边界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已具备可展示的产品与工程基础，但不夸大认证状态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以下内容区分已实现的前端/契约能力与尚需完成的外部人工验证。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46504"/>
            <a:ext cx="5358384" cy="4334256"/>
          </a:xfrm>
          <a:prstGeom prst="roundRect">
            <a:avLst>
              <a:gd name="adj" fmla="val 2532"/>
            </a:avLst>
          </a:prstGeom>
          <a:solidFill>
            <a:srgbClr val="EDF8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81344" y="1746504"/>
            <a:ext cx="5358384" cy="4334256"/>
          </a:xfrm>
          <a:prstGeom prst="roundRect">
            <a:avLst>
              <a:gd name="adj" fmla="val 2532"/>
            </a:avLst>
          </a:prstGeom>
          <a:solidFill>
            <a:srgbClr val="FFF2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74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已实现 / 可展示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8816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947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仍需人工证据 / 不应宣称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688336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07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19072" y="26974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+ Vite 前端、PWA、国际化与响应式交互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005840" y="3346704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19072" y="33558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情绪可视化、圣经地图、语音输入与文本转写接口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05840" y="4005072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23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19072" y="40142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Formation 课程模块、最小上下文校验、审核与发布工作台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005840" y="4663440"/>
            <a:ext cx="548640" cy="548640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7823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19072" y="467258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安全边界、Feature Flag、版本化内容与回滚门槛的产品契约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528816" y="2688336"/>
            <a:ext cx="548640" cy="548640"/>
          </a:xfrm>
          <a:prstGeom prst="ellipse">
            <a:avLst/>
          </a:prstGeom>
          <a:solidFill>
            <a:srgbClr val="DD6A6A">
              <a:alpha val="16000"/>
            </a:srgbClr>
          </a:solidFill>
          <a:ln w="12700">
            <a:solidFill>
              <a:srgbClr val="DD6A6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2807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A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42048" y="26974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面向所有学习者的已审核课程内容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28816" y="3346704"/>
            <a:ext cx="548640" cy="548640"/>
          </a:xfrm>
          <a:prstGeom prst="ellipse">
            <a:avLst/>
          </a:prstGeom>
          <a:solidFill>
            <a:srgbClr val="DD6A6A">
              <a:alpha val="16000"/>
            </a:srgbClr>
          </a:solidFill>
          <a:ln w="12700">
            <a:solidFill>
              <a:srgbClr val="DD6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A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33558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完整人工无障碍签署与移动实机签署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528816" y="4005072"/>
            <a:ext cx="548640" cy="548640"/>
          </a:xfrm>
          <a:prstGeom prst="ellipse">
            <a:avLst/>
          </a:prstGeom>
          <a:solidFill>
            <a:srgbClr val="DD6A6A">
              <a:alpha val="16000"/>
            </a:srgbClr>
          </a:solidFill>
          <a:ln w="12700">
            <a:solidFill>
              <a:srgbClr val="DD6A6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4123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A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42048" y="40142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有限发布、事故演练、回滚演练的具名最终签署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528816" y="4663440"/>
            <a:ext cx="548640" cy="548640"/>
          </a:xfrm>
          <a:prstGeom prst="ellipse">
            <a:avLst/>
          </a:prstGeom>
          <a:solidFill>
            <a:srgbClr val="DD6A6A">
              <a:alpha val="16000"/>
            </a:srgbClr>
          </a:solidFill>
          <a:ln w="12700">
            <a:solidFill>
              <a:srgbClr val="DD6A6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47823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A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467258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生产级 AI 门训服务的全面认证结论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项目价值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不是扩大 AI 输出，而是提升安全、可理解、可连接的成长支持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成效应以可持续、安全和被共同体承接的实践来判断，而非内容消费量或模型输出量。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542032" cy="309067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8865E8">
              <a:alpha val="14000"/>
            </a:srgbClr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351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更容易开始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27832"/>
            <a:ext cx="20299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更低门槛的每日觉察、经文学习、祷告与习惯支持。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7872" y="1828800"/>
            <a:ext cx="2542032" cy="309067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2103120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F3C969">
              <a:alpha val="14000"/>
            </a:srgbClr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1351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更透明的对话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76472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6472" y="3227832"/>
            <a:ext cx="20299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可复盘的数字公约、家长榜样与年龄适切的学习陪伴。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9944" y="1828800"/>
            <a:ext cx="2542032" cy="309067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103120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2864DC">
              <a:alpha val="14000"/>
            </a:srgbClr>
          </a:solidFill>
          <a:ln w="12700">
            <a:solidFill>
              <a:srgbClr val="2864D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21351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更清晰的责任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38544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38544" y="3227832"/>
            <a:ext cx="20299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课程审核、关怀授权、门训连接与牧养支持的工具化协作。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72016" y="1828800"/>
            <a:ext cx="2542032" cy="3090672"/>
          </a:xfrm>
          <a:prstGeom prst="roundRect">
            <a:avLst>
              <a:gd name="adj" fmla="val 4317"/>
            </a:avLst>
          </a:prstGeom>
          <a:solidFill>
            <a:srgbClr val="F5F8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2103120"/>
            <a:ext cx="1261872" cy="274320"/>
          </a:xfrm>
          <a:prstGeom prst="roundRect">
            <a:avLst>
              <a:gd name="adj" fmla="val 40000"/>
            </a:avLst>
          </a:prstGeom>
          <a:solidFill>
            <a:srgbClr val="4CCFA6">
              <a:alpha val="14000"/>
            </a:srgbClr>
          </a:solidFill>
          <a:ln w="12700">
            <a:solidFill>
              <a:srgbClr val="4CCF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21351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更可追溯的发布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00616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平台治理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0616" y="3227832"/>
            <a:ext cx="20299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470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版本、证据、权限、审核和回滚机制降低高风险内容误用。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53949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北极星原则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47088" y="53583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活跃实践是否仍然安全、可问责、有证据支持，并走向真实关系与本地共同体的承接？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A8EA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项目代码与架构文档梳理 · 2026.09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64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64008" cy="64008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731520"/>
            <a:ext cx="73152" cy="73152"/>
          </a:xfrm>
          <a:prstGeom prst="ellipse">
            <a:avLst/>
          </a:prstGeom>
          <a:solidFill>
            <a:srgbClr val="23C4D9"/>
          </a:solidFill>
          <a:ln w="12700">
            <a:solidFill>
              <a:srgbClr val="23C4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52120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5943600"/>
            <a:ext cx="54864" cy="54864"/>
          </a:xfrm>
          <a:prstGeom prst="ellipse">
            <a:avLst/>
          </a:prstGeom>
          <a:solidFill>
            <a:srgbClr val="8865E8"/>
          </a:solidFill>
          <a:ln w="12700">
            <a:solidFill>
              <a:srgbClr val="8865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612648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640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C4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从可展示能力走向可信赖的有限发布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17007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E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下一阶段的重点不是增加更多功能，而是完成高风险模块的内容、体验和治理证据闭环。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" y="2788920"/>
            <a:ext cx="713232" cy="713232"/>
          </a:xfrm>
          <a:prstGeom prst="ellipse">
            <a:avLst/>
          </a:prstGeom>
          <a:solidFill>
            <a:srgbClr val="8865E8">
              <a:alpha val="16000"/>
            </a:srgbClr>
          </a:solidFill>
          <a:ln w="12700">
            <a:solidFill>
              <a:srgbClr val="8865E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0083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65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7889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完成内容审核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19125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7C8D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按角色审核神学、牧养、儿童青少年与敏感主题内容。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2788920"/>
            <a:ext cx="713232" cy="713232"/>
          </a:xfrm>
          <a:prstGeom prst="ellipse">
            <a:avLst/>
          </a:prstGeom>
          <a:solidFill>
            <a:srgbClr val="F3C969">
              <a:alpha val="16000"/>
            </a:srgbClr>
          </a:solidFill>
          <a:ln w="12700">
            <a:solidFill>
              <a:srgbClr val="F3C969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30083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C9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2664" y="27889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补齐人工证据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12664" y="319125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7C8D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完成无障碍、移动实机、事故与回滚演练签署。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2788920"/>
            <a:ext cx="713232" cy="713232"/>
          </a:xfrm>
          <a:prstGeom prst="ellipse">
            <a:avLst/>
          </a:prstGeom>
          <a:solidFill>
            <a:srgbClr val="4CCFA6">
              <a:alpha val="16000"/>
            </a:srgbClr>
          </a:solidFill>
          <a:ln w="12700">
            <a:solidFill>
              <a:srgbClr val="4CCFA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30083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F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25128" y="27889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有限范围发布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25128" y="319125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7C8D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受众、功能开关、停止条件与监控责任明确后再扩大。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" y="5102352"/>
            <a:ext cx="10744200" cy="630936"/>
          </a:xfrm>
          <a:prstGeom prst="roundRect">
            <a:avLst>
              <a:gd name="adj" fmla="val 17391"/>
            </a:avLst>
          </a:prstGeom>
          <a:solidFill>
            <a:srgbClr val="142A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13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0976" y="5303520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结论：让 AI 服务于人的学习、反思与关系；让人继续对真理、关怀与发布承担责任。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" y="6144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AB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SPIRITUAL PLANET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18520" y="6144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3C4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Spiritual Planet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属灵星球：网站呈现与 AI 技术应用</dc:title>
  <dc:subject>Website presentation and AI technology application</dc:subject>
  <dc:creator>Spiritual Planet Project</dc:creator>
  <cp:lastModifiedBy>Spiritual Planet Project</cp:lastModifiedBy>
  <cp:revision>1</cp:revision>
  <dcterms:created xsi:type="dcterms:W3CDTF">2026-09-04T15:24:43Z</dcterms:created>
  <dcterms:modified xsi:type="dcterms:W3CDTF">2026-09-04T15:24:43Z</dcterms:modified>
</cp:coreProperties>
</file>